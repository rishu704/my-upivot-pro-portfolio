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52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2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+ ROOT CAUSE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Breaksy — Care That Doesn’t Break The Flow 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need another break reminder. They need one that understands their day.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79392" cy="130759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8498" y="2084832"/>
            <a:ext cx="3929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i="1" dirty="0"/>
              <a:t>Desk-based knowledge workers often spend long, uninterrupted periods at their computers, missing movement, visual-rest, hydration and stretching breaks because they become absorbed in their work , face deadlines and meetings, or don’t have a suitable break window.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4279392" cy="1463040"/>
          </a:xfrm>
          <a:prstGeom prst="roundRect">
            <a:avLst>
              <a:gd name="adj" fmla="val 5000"/>
            </a:avLst>
          </a:prstGeom>
          <a:solidFill>
            <a:srgbClr val="192232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685800" y="336499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A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ROOT CAUSE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639312"/>
            <a:ext cx="3822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workers don’t lack awareness but they lack a context-aware way to act on healthy intentions when work conflicts with them.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39043"/>
            <a:ext cx="4279392" cy="1600200"/>
          </a:xfrm>
          <a:prstGeom prst="roundRect">
            <a:avLst>
              <a:gd name="adj" fmla="val 4571"/>
            </a:avLst>
          </a:prstGeom>
          <a:solidFill>
            <a:srgbClr val="FBF1DD"/>
          </a:solidFill>
          <a:ln w="12700">
            <a:solidFill>
              <a:srgbClr val="F0DDAE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496519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QUOTE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5230368"/>
            <a:ext cx="3822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had high-priority work on my plate which didn’t allow me to take breaks. I think a break would have broken my flow.”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Sushant Patnaik, Analytics Consultant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052363"/>
              </p:ext>
            </p:extLst>
          </p:nvPr>
        </p:nvGraphicFramePr>
        <p:xfrm>
          <a:off x="4965192" y="1691640"/>
          <a:ext cx="6784848" cy="4754881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1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922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874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the user actually say?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922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“High-priority work didn’t allow me to take breaks — a break would’ve broken my flow.” — Sushant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922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874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the user say this?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b="0" dirty="0"/>
                        <a:t>Because taking a break can interrupt deep focus, task continuity, or productivity, especially when the work is high priority or deadline-driven.</a:t>
                      </a:r>
                      <a:endParaRPr lang="en-US" sz="9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922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874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that happen?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b="0" dirty="0"/>
                        <a:t>Because users often decide that finishing the task is more important than taking care of themselves at that moment. Breaks become something they will do </a:t>
                      </a:r>
                      <a:r>
                        <a:rPr lang="en-IN" sz="1000" b="0" i="1" dirty="0"/>
                        <a:t>after</a:t>
                      </a:r>
                      <a:r>
                        <a:rPr lang="en-IN" sz="1000" b="0" dirty="0"/>
                        <a:t> the work is completed.</a:t>
                      </a:r>
                      <a:endParaRPr lang="en-US" sz="9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4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922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874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that happen?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b="0" dirty="0"/>
                        <a:t>Because workdays contain deadlines, long analytical tasks, back-to-back meetings, and external requests, which make break timing difficult to control. Karishma explicitly said that when calls are back-to-back, “it's not your call to get up.” </a:t>
                      </a:r>
                      <a:endParaRPr lang="en-US" sz="9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1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922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874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that happen?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b="0" dirty="0"/>
                        <a:t>Because existing break solutions are generally time-based rather than context-based. A fixed timer doesn't know whether someone is in deep work, on a call, approaching a deadline, or actually free. Triveni's earlier timer also became socially uncomfortable because colleagues noticed and mocked the visible reminders.</a:t>
                      </a:r>
                      <a:endParaRPr lang="en-US" sz="9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4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A6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5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874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that happen?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b="0" dirty="0"/>
                        <a:t>Because the real problem is not lack of awareness. The user's work environment determines whether a healthy action is actually feasible at that moment. The current solutions don't understand the user's work context, so users either ignore them or don't have the opportunity to act.</a:t>
                      </a:r>
                      <a:endParaRPr lang="en-US" sz="9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2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interviews → one underlying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4617720"/>
          </a:xfrm>
          <a:prstGeom prst="roundRect">
            <a:avLst>
              <a:gd name="adj" fmla="val 2712"/>
            </a:avLst>
          </a:prstGeom>
          <a:solidFill>
            <a:srgbClr val="192232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AA4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21792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desk-based knowledge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interviewed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" y="2743200"/>
            <a:ext cx="2377440" cy="0"/>
          </a:xfrm>
          <a:prstGeom prst="line">
            <a:avLst/>
          </a:prstGeom>
          <a:noFill/>
          <a:ln w="9525">
            <a:solidFill>
              <a:srgbClr val="3A46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807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Alex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3044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Marketing Mgr.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3246120"/>
            <a:ext cx="2377440" cy="0"/>
          </a:xfrm>
          <a:prstGeom prst="line">
            <a:avLst/>
          </a:prstGeom>
          <a:noFill/>
          <a:ln w="9525">
            <a:solidFill>
              <a:srgbClr val="3A46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" y="33101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Triveni Deshmukh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5478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3749040"/>
            <a:ext cx="2377440" cy="0"/>
          </a:xfrm>
          <a:prstGeom prst="line">
            <a:avLst/>
          </a:prstGeom>
          <a:noFill/>
          <a:ln w="9525">
            <a:solidFill>
              <a:srgbClr val="3A46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" y="3813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Karishma Dubey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40507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Project Manager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" y="4251960"/>
            <a:ext cx="2377440" cy="0"/>
          </a:xfrm>
          <a:prstGeom prst="line">
            <a:avLst/>
          </a:prstGeom>
          <a:noFill/>
          <a:ln w="9525">
            <a:solidFill>
              <a:srgbClr val="3A46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1792" y="43159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Sushant Patnaik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4553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Consultant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" y="4754880"/>
            <a:ext cx="2377440" cy="0"/>
          </a:xfrm>
          <a:prstGeom prst="line">
            <a:avLst/>
          </a:prstGeom>
          <a:noFill/>
          <a:ln w="9525">
            <a:solidFill>
              <a:srgbClr val="3A46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1792" y="48646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reported prolonged sitting, work-context conflict, and physical or visual discomfort.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QUOTES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1536192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337560" y="1536192"/>
            <a:ext cx="54864" cy="1298448"/>
          </a:xfrm>
          <a:prstGeom prst="rect">
            <a:avLst/>
          </a:prstGeom>
          <a:solidFill>
            <a:srgbClr val="14918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66160" y="164592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Karishma faced back-to-back calls.</a:t>
            </a:r>
            <a:br>
              <a:rPr lang="en-US" sz="115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5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20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you’re on continuous calls back-to-back, it’s not your call to get up - you have to be present.”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24963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Karishma Dubey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980944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337560" y="2980944"/>
            <a:ext cx="54864" cy="1298448"/>
          </a:xfrm>
          <a:prstGeom prst="rect">
            <a:avLst/>
          </a:prstGeom>
          <a:solidFill>
            <a:srgbClr val="14918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566160" y="3090672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Triveni highlighted cultural friction.</a:t>
            </a:r>
            <a:br>
              <a:rPr lang="en-US" sz="115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5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20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care, because it feels like we’re being selfish if we take care of ourselves within working hours.”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3941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Triveni Deshmukh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4425696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337560" y="4425696"/>
            <a:ext cx="54864" cy="1298448"/>
          </a:xfrm>
          <a:prstGeom prst="rect">
            <a:avLst/>
          </a:prstGeom>
          <a:solidFill>
            <a:srgbClr val="14918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566160" y="4535424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300" b="1" dirty="0"/>
              <a:t>Sushant's primary barrier was deep analytical flow.</a:t>
            </a:r>
            <a:br>
              <a:rPr lang="en-US" sz="115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20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high-priority work on my plate which didn’t allow me to take breaks. </a:t>
            </a:r>
            <a:r>
              <a:rPr lang="en-IN" sz="1200" dirty="0"/>
              <a:t>I think break would have broken my flow.</a:t>
            </a:r>
            <a:r>
              <a:rPr lang="en-US" sz="1200" i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53858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Sushant Patnaik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1188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0" y="1417320"/>
            <a:ext cx="4251960" cy="113385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585788" y="1554480"/>
            <a:ext cx="39813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300" b="1" dirty="0"/>
              <a:t>Physical inactivity is a growing concern for desk-based workers.</a:t>
            </a:r>
            <a:br>
              <a:rPr lang="en-IN" sz="1200" dirty="0"/>
            </a:br>
            <a:br>
              <a:rPr lang="en-IN" sz="1200" dirty="0"/>
            </a:br>
            <a:r>
              <a:rPr lang="en-US" sz="1200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of adults worldwide (~1.8B) inactive (WHO 2022) -  headed to 35% by 2030.</a:t>
            </a:r>
          </a:p>
          <a:p>
            <a:pPr marL="0" indent="0">
              <a:buNone/>
            </a:pPr>
            <a:endParaRPr lang="en-US" sz="1200" dirty="0">
              <a:solidFill>
                <a:srgbClr val="1922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br>
              <a:rPr lang="en-US" sz="950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950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98080" y="2596896"/>
            <a:ext cx="4251960" cy="105156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585788" y="2688336"/>
            <a:ext cx="3981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300" b="1" dirty="0"/>
              <a:t>Digital eye strain is widespread among screen-based workers.</a:t>
            </a:r>
            <a:br>
              <a:rPr lang="en-IN" sz="1200" dirty="0"/>
            </a:br>
            <a:endParaRPr lang="en-US" sz="1200" dirty="0">
              <a:solidFill>
                <a:srgbClr val="1922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of screen users show computer vision syndrome symptoms - 2024 meta-analysis, 66,577 people.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98080" y="3712837"/>
            <a:ext cx="4251960" cy="101498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576457" y="3749040"/>
            <a:ext cx="3981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300" b="1" dirty="0"/>
              <a:t>Workplace interruptions make it harder to protect focus.</a:t>
            </a:r>
            <a:br>
              <a:rPr lang="en-IN" sz="1200" dirty="0"/>
            </a:br>
            <a:endParaRPr lang="en-US" sz="1200" dirty="0">
              <a:solidFill>
                <a:srgbClr val="1922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interruptions/day on average (Microsoft, 2025) - the product must know when NOT to add one more 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98080" y="4773168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192232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680960" y="48097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A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OPPORTUNITY GAP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80960" y="5047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exercise, eye-care apps and smartwatches each solve one piece. None understand desk-work context.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680960" y="55229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DA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where this app focus: the right action, at the right desk-work moment.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57200" y="5989320"/>
            <a:ext cx="11292840" cy="658368"/>
          </a:xfrm>
          <a:prstGeom prst="roundRect">
            <a:avLst>
              <a:gd name="adj" fmla="val 11111"/>
            </a:avLst>
          </a:prstGeom>
          <a:solidFill>
            <a:srgbClr val="FBF1DD"/>
          </a:solidFill>
          <a:ln w="12700">
            <a:solidFill>
              <a:srgbClr val="F0DDAE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85800" y="598932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   </a:t>
            </a:r>
            <a:r>
              <a:rPr lang="en-US" sz="1400" b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I’m working long hours at my desk, I want to maintain my wellbeing without disrupting productivity, but my workload, meetings, deadlines and deep-work state make it hard to know when to take a break.</a:t>
            </a:r>
            <a:endParaRPr lang="en-US" sz="1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2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I’m building a desk-work wellness companion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92840" cy="1508760"/>
          </a:xfrm>
          <a:prstGeom prst="roundRect">
            <a:avLst>
              <a:gd name="adj" fmla="val 4848"/>
            </a:avLst>
          </a:prstGeom>
          <a:solidFill>
            <a:srgbClr val="192232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389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A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context-aware desk companion that finds real windows for movement, hydration, and visual recovery so healthy habits fit the workday, instead of asking the workday to stop for them.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break reminder — a companion that acts on the healthy intentions desk workers already have.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8779" y="436914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4772" y="4720730"/>
            <a:ext cx="5532120" cy="1334978"/>
          </a:xfrm>
          <a:prstGeom prst="roundRect">
            <a:avLst>
              <a:gd name="adj" fmla="val 3137"/>
            </a:avLst>
          </a:prstGeom>
          <a:solidFill>
            <a:srgbClr val="FBF1DD"/>
          </a:solidFill>
          <a:ln w="12700">
            <a:solidFill>
              <a:srgbClr val="F0DDAE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622" y="4983666"/>
            <a:ext cx="5326380" cy="820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IN" sz="1400" b="1" i="1" dirty="0"/>
              <a:t>Subscribers consistently taking context-aware breaks, tracking progress, and reporting reduced physical strain or improved energy. </a:t>
            </a:r>
            <a:br>
              <a:rPr lang="en-IN" sz="1400" b="1" i="1" dirty="0"/>
            </a:br>
            <a:r>
              <a:rPr lang="en-IN" sz="1400" b="1" i="1" dirty="0"/>
              <a:t>This app </a:t>
            </a:r>
            <a:r>
              <a:rPr lang="en-US" sz="1400" b="1" i="1" dirty="0"/>
              <a:t>must reflect real human value - proving that users are getting tangible physical relief, better eye comfort, and sustained energy, all without sacrificing their work flow.</a:t>
            </a:r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2993" y="3090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THINGS I’M NOT BUILDING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109" y="3512787"/>
            <a:ext cx="54681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55677" y="3713036"/>
            <a:ext cx="365760" cy="365760"/>
          </a:xfrm>
          <a:prstGeom prst="ellipse">
            <a:avLst/>
          </a:prstGeom>
          <a:solidFill>
            <a:srgbClr val="F6DC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 flipV="1">
            <a:off x="6464822" y="3392238"/>
            <a:ext cx="365760" cy="947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40295" y="36086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Timer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385990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nudges that ignore whether you’re actually free.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109" y="4431013"/>
            <a:ext cx="54681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64822" y="4593508"/>
            <a:ext cx="365760" cy="365760"/>
          </a:xfrm>
          <a:prstGeom prst="ellipse">
            <a:avLst/>
          </a:prstGeom>
          <a:solidFill>
            <a:srgbClr val="F6DC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 flipV="1">
            <a:off x="6473967" y="4308831"/>
            <a:ext cx="3657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4489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Fitness Tracker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4796963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health tracking beyond the desk-work moment.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109" y="5342476"/>
            <a:ext cx="54681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762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455677" y="5467482"/>
            <a:ext cx="365760" cy="365760"/>
          </a:xfrm>
          <a:prstGeom prst="ellipse">
            <a:avLst/>
          </a:prstGeom>
          <a:solidFill>
            <a:srgbClr val="F6DC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46520" y="5486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84126" y="5395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Notifications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84126" y="5623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stacked on top of an already-interrupted day.</a:t>
            </a:r>
            <a:endParaRPr 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5FB561-A24A-035D-F24C-676601964D92}"/>
              </a:ext>
            </a:extLst>
          </p:cNvPr>
          <p:cNvSpPr txBox="1"/>
          <p:nvPr/>
        </p:nvSpPr>
        <p:spPr>
          <a:xfrm>
            <a:off x="312233" y="2946233"/>
            <a:ext cx="2286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49187"/>
                </a:solidFill>
                <a:latin typeface="Aptos"/>
              </a:rPr>
              <a:t>CORE HYPOTHESIS</a:t>
            </a:r>
          </a:p>
        </p:txBody>
      </p:sp>
      <p:sp>
        <p:nvSpPr>
          <p:cNvPr id="35" name="Rounded Rectangle 11">
            <a:extLst>
              <a:ext uri="{FF2B5EF4-FFF2-40B4-BE49-F238E27FC236}">
                <a16:creationId xmlns:a16="http://schemas.microsoft.com/office/drawing/2014/main" id="{6CB0FEAF-FBBE-C150-3FB6-0480208DEDA1}"/>
              </a:ext>
            </a:extLst>
          </p:cNvPr>
          <p:cNvSpPr/>
          <p:nvPr/>
        </p:nvSpPr>
        <p:spPr>
          <a:xfrm>
            <a:off x="228601" y="3468002"/>
            <a:ext cx="1463040" cy="748876"/>
          </a:xfrm>
          <a:prstGeom prst="round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DDF830-31AA-93C5-4E97-09AC2F0C9398}"/>
              </a:ext>
            </a:extLst>
          </p:cNvPr>
          <p:cNvSpPr txBox="1"/>
          <p:nvPr/>
        </p:nvSpPr>
        <p:spPr>
          <a:xfrm>
            <a:off x="368779" y="3396168"/>
            <a:ext cx="1619354" cy="2616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 dirty="0">
                <a:solidFill>
                  <a:srgbClr val="192232"/>
                </a:solidFill>
                <a:latin typeface="Aptos"/>
              </a:rPr>
              <a:t>DEEP WORK</a:t>
            </a:r>
            <a:r>
              <a:rPr lang="en-IN" sz="1100" b="1" dirty="0">
                <a:solidFill>
                  <a:srgbClr val="192232"/>
                </a:solidFill>
                <a:latin typeface="Aptos"/>
              </a:rPr>
              <a:t>/MEETING</a:t>
            </a:r>
            <a:endParaRPr sz="1100" b="1" dirty="0">
              <a:solidFill>
                <a:srgbClr val="192232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8AA2AA-5FEF-67F0-0359-838F79D01F93}"/>
              </a:ext>
            </a:extLst>
          </p:cNvPr>
          <p:cNvSpPr txBox="1"/>
          <p:nvPr/>
        </p:nvSpPr>
        <p:spPr>
          <a:xfrm>
            <a:off x="-91439" y="3632268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 dirty="0">
                <a:solidFill>
                  <a:srgbClr val="149187"/>
                </a:solidFill>
                <a:latin typeface="Aptos"/>
              </a:rPr>
              <a:t>Don't disturb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C9FBFA8-44CA-F8B7-962A-6AABE2295497}"/>
              </a:ext>
            </a:extLst>
          </p:cNvPr>
          <p:cNvSpPr/>
          <p:nvPr/>
        </p:nvSpPr>
        <p:spPr>
          <a:xfrm>
            <a:off x="274319" y="3358274"/>
            <a:ext cx="1759753" cy="56450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2BB7AE-E1F2-D254-932B-5C1E237E9850}"/>
              </a:ext>
            </a:extLst>
          </p:cNvPr>
          <p:cNvSpPr txBox="1"/>
          <p:nvPr/>
        </p:nvSpPr>
        <p:spPr>
          <a:xfrm>
            <a:off x="1851193" y="3382302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 dirty="0">
                <a:solidFill>
                  <a:srgbClr val="192232"/>
                </a:solidFill>
                <a:latin typeface="Aptos"/>
              </a:rPr>
              <a:t>FREE WINDOW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8CC5FD-3E75-B84F-C3D2-4D29056DFCD9}"/>
              </a:ext>
            </a:extLst>
          </p:cNvPr>
          <p:cNvSpPr txBox="1"/>
          <p:nvPr/>
        </p:nvSpPr>
        <p:spPr>
          <a:xfrm>
            <a:off x="1851193" y="3602424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 dirty="0">
                <a:solidFill>
                  <a:srgbClr val="149187"/>
                </a:solidFill>
                <a:latin typeface="Aptos"/>
              </a:rPr>
              <a:t>Suggest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F6E6FCD-6CC3-7147-FF37-72098F7C0640}"/>
              </a:ext>
            </a:extLst>
          </p:cNvPr>
          <p:cNvSpPr/>
          <p:nvPr/>
        </p:nvSpPr>
        <p:spPr>
          <a:xfrm>
            <a:off x="2302792" y="3358274"/>
            <a:ext cx="1700041" cy="56450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7A87C6-0370-401C-ADA7-95B4C61AEE57}"/>
              </a:ext>
            </a:extLst>
          </p:cNvPr>
          <p:cNvSpPr txBox="1"/>
          <p:nvPr/>
        </p:nvSpPr>
        <p:spPr>
          <a:xfrm>
            <a:off x="3794759" y="3386245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 dirty="0">
                <a:solidFill>
                  <a:srgbClr val="192232"/>
                </a:solidFill>
                <a:latin typeface="Aptos"/>
              </a:rPr>
              <a:t>NOT NOW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AC0323-57D3-3DA2-F81C-826B1360400B}"/>
              </a:ext>
            </a:extLst>
          </p:cNvPr>
          <p:cNvSpPr txBox="1"/>
          <p:nvPr/>
        </p:nvSpPr>
        <p:spPr>
          <a:xfrm>
            <a:off x="3794759" y="3620959"/>
            <a:ext cx="24688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 dirty="0">
                <a:solidFill>
                  <a:srgbClr val="149187"/>
                </a:solidFill>
                <a:latin typeface="Aptos"/>
              </a:rPr>
              <a:t>Adapt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68E29D2-8C7E-8967-7337-207251B221F3}"/>
              </a:ext>
            </a:extLst>
          </p:cNvPr>
          <p:cNvSpPr/>
          <p:nvPr/>
        </p:nvSpPr>
        <p:spPr>
          <a:xfrm>
            <a:off x="4271553" y="3358274"/>
            <a:ext cx="1507456" cy="53921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911</Words>
  <Application>Microsoft Office PowerPoint</Application>
  <PresentationFormat>Widescreen</PresentationFormat>
  <Paragraphs>94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rishu kumar</cp:lastModifiedBy>
  <cp:revision>15</cp:revision>
  <dcterms:created xsi:type="dcterms:W3CDTF">2026-08-21T18:51:49Z</dcterms:created>
  <dcterms:modified xsi:type="dcterms:W3CDTF">2026-08-22T07:46:33Z</dcterms:modified>
</cp:coreProperties>
</file>